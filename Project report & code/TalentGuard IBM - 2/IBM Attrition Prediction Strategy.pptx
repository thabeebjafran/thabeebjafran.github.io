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3525500" cx="24053800"/>
  <p:notesSz cx="6858000" cy="9144000"/>
  <p:embeddedFontLs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Montserrat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16">
          <p15:clr>
            <a:srgbClr val="000000"/>
          </p15:clr>
        </p15:guide>
        <p15:guide id="2" pos="23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16" orient="horz"/>
        <p:guide pos="2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MontserratExtraBold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ExtraBold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52450" y="2974705"/>
            <a:ext cx="6261100" cy="2052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104900" y="5426288"/>
            <a:ext cx="5156200" cy="2447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81863" y="6153339"/>
            <a:ext cx="6261100" cy="1901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81863" y="4058633"/>
            <a:ext cx="6261100" cy="20947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8300" y="2234355"/>
            <a:ext cx="3253317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744383" y="2234355"/>
            <a:ext cx="3253317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68300" y="2143474"/>
            <a:ext cx="3254596" cy="8932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68300" y="3036771"/>
            <a:ext cx="3254596" cy="5517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741827" y="2143474"/>
            <a:ext cx="3255874" cy="8932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741827" y="3036771"/>
            <a:ext cx="3255874" cy="5517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68301" y="381259"/>
            <a:ext cx="2423363" cy="16225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879901" y="381259"/>
            <a:ext cx="4117799" cy="817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68301" y="2003825"/>
            <a:ext cx="2423363" cy="655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443788" y="6703060"/>
            <a:ext cx="4419600" cy="7913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443788" y="855615"/>
            <a:ext cx="4419600" cy="574548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443788" y="7494394"/>
            <a:ext cx="4419600" cy="112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23208" y="2079448"/>
            <a:ext cx="6319585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65661" y="5411112"/>
            <a:ext cx="11406728" cy="165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2910422" y="3815145"/>
            <a:ext cx="11406728" cy="48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pavansubhasht/ibm-hr-analytics-attrition-datase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kaggle.com/datasets/pavansubhasht/ibm-hr-analytics-attrition-dataset" TargetMode="External"/><Relationship Id="rId4" Type="http://schemas.openxmlformats.org/officeDocument/2006/relationships/hyperlink" Target="https://colab.research.google.com/drive/1oi5TYocfq2YObHnKfMExnjJc2JOLrlqz?usp=drive_link" TargetMode="External"/><Relationship Id="rId5" Type="http://schemas.openxmlformats.org/officeDocument/2006/relationships/hyperlink" Target="https://public.tableau.com/views/TalentGuardTableauDashboard/STRATEGICDASHBOARD?:language=en-US&amp;:sid=&amp;:redirect=auth&amp;:display_count=n&amp;:origin=viz_share_link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14500" y="3619500"/>
            <a:ext cx="152400" cy="47625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286000" y="3238500"/>
            <a:ext cx="190500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DATA - </a:t>
            </a:r>
            <a:r>
              <a:rPr b="1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BUSINESS PORTFOLIO</a:t>
            </a:r>
            <a:endParaRPr b="1" sz="2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9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9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BY THABEEB JAFRAN  |  2023</a:t>
            </a:r>
            <a:endParaRPr b="0" sz="3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5668625" y="762000"/>
            <a:ext cx="66675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714500" y="2571750"/>
            <a:ext cx="114300" cy="8574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095500" y="2476500"/>
            <a:ext cx="11430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4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BACKGROUND &amp; SCOPE</a:t>
            </a:r>
            <a:endParaRPr b="0" sz="4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714500" y="4191000"/>
            <a:ext cx="9525000" cy="36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01 / THE BACKGROUND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IBM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known as </a:t>
            </a:r>
            <a:r>
              <a:rPr b="1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'The Big Blue,'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is a major multinational technology corporation headquartered in New York, USA, specializing in software and hardware.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625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Established in 1911, IBM faced a challenging year in 2022 due to a </a:t>
            </a:r>
            <a:r>
              <a:rPr b="1" lang="en-CA" sz="2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high employee attrition rate</a:t>
            </a:r>
            <a:r>
              <a:rPr b="0" lang="en-CA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in the US.</a:t>
            </a:r>
            <a:endParaRPr b="0" sz="2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12382500" y="4191000"/>
            <a:ext cx="9906000" cy="6477000"/>
            <a:chOff x="12382500" y="4191000"/>
            <a:chExt cx="9906000" cy="6477000"/>
          </a:xfrm>
        </p:grpSpPr>
        <p:sp>
          <p:nvSpPr>
            <p:cNvPr id="95" name="Google Shape;95;p14"/>
            <p:cNvSpPr/>
            <p:nvPr/>
          </p:nvSpPr>
          <p:spPr>
            <a:xfrm>
              <a:off x="12382500" y="4191000"/>
              <a:ext cx="9906000" cy="6477000"/>
            </a:xfrm>
            <a:prstGeom prst="roundRect">
              <a:avLst>
                <a:gd fmla="val 3529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2858750" y="4667250"/>
              <a:ext cx="8953500" cy="55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02 / PROJECT OBJECTIVE</a:t>
              </a:r>
              <a:endParaRPr b="1" sz="1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Analyzing &amp; Strategizing for 2023</a:t>
              </a:r>
              <a:endParaRPr b="1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Now, we’ll analyze to find </a:t>
              </a:r>
              <a:r>
                <a:rPr b="1" lang="en-CA" sz="2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strategy of the attrition to prediction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1" lang="en-CA" sz="2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reduce attrition in 2023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using the IBM 20222 </a:t>
              </a:r>
              <a:r>
                <a:rPr b="1" lang="en-CA" sz="2800" u="sng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 Attrition Rate </a:t>
              </a:r>
              <a:r>
                <a:rPr b="1" lang="en-CA" sz="2800" u="sng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3"/>
                </a:rPr>
                <a:t>dataset</a:t>
              </a:r>
              <a:r>
                <a:rPr b="0" lang="en-CA" sz="2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2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1143000" y="714375"/>
            <a:ext cx="11811000" cy="952500"/>
            <a:chOff x="1143000" y="714375"/>
            <a:chExt cx="11811000" cy="952500"/>
          </a:xfrm>
        </p:grpSpPr>
        <p:sp>
          <p:nvSpPr>
            <p:cNvPr id="102" name="Google Shape;102;p15"/>
            <p:cNvSpPr/>
            <p:nvPr/>
          </p:nvSpPr>
          <p:spPr>
            <a:xfrm>
              <a:off x="1143000" y="762000"/>
              <a:ext cx="114300" cy="8574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524000" y="714375"/>
              <a:ext cx="1143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4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EXECUTIVE SUMMARY</a:t>
              </a:r>
              <a:endParaRPr b="0" sz="4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5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1143000" y="2286000"/>
            <a:ext cx="10287000" cy="4000500"/>
            <a:chOff x="1143000" y="2286000"/>
            <a:chExt cx="10287000" cy="4000500"/>
          </a:xfrm>
        </p:grpSpPr>
        <p:sp>
          <p:nvSpPr>
            <p:cNvPr id="106" name="Google Shape;106;p15"/>
            <p:cNvSpPr/>
            <p:nvPr/>
          </p:nvSpPr>
          <p:spPr>
            <a:xfrm>
              <a:off x="1143000" y="2286000"/>
              <a:ext cx="102870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809750" y="2619375"/>
              <a:ext cx="9239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PROJECT BACKGROUND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 2022, IBM Employee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Attrition rate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is considered </a:t>
              </a:r>
              <a:r>
                <a:rPr b="1" lang="en-CA" sz="1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High (16.14%)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Overtime, Salary,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Stock Option Level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are the most correlated variables.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Goal: Reduce attrition to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below 10%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by strategizing prediction models through 2023.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1143000" y="6667500"/>
            <a:ext cx="10287000" cy="5143500"/>
            <a:chOff x="1143000" y="6667500"/>
            <a:chExt cx="10287000" cy="5143500"/>
          </a:xfrm>
        </p:grpSpPr>
        <p:sp>
          <p:nvSpPr>
            <p:cNvPr id="110" name="Google Shape;110;p15"/>
            <p:cNvSpPr/>
            <p:nvPr/>
          </p:nvSpPr>
          <p:spPr>
            <a:xfrm>
              <a:off x="1143000" y="6667500"/>
              <a:ext cx="10287000" cy="5143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524000" y="70485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809750" y="7000875"/>
              <a:ext cx="9239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LINEAR REGRESSION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Based on prediction, </a:t>
              </a:r>
              <a:r>
                <a:rPr b="1" lang="en-CA" sz="1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148 Employees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are predicted to leave the company in 2023.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of the predicted churned employees work overtime.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Most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predicted churned employees have a monthly salary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less than $5,000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b="1" lang="en-CA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Most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predicted churned employees do not receive any stock options.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12573000" y="2286000"/>
            <a:ext cx="10287000" cy="5143500"/>
            <a:chOff x="12573000" y="2286000"/>
            <a:chExt cx="10287000" cy="5143500"/>
          </a:xfrm>
        </p:grpSpPr>
        <p:sp>
          <p:nvSpPr>
            <p:cNvPr id="114" name="Google Shape;114;p15"/>
            <p:cNvSpPr/>
            <p:nvPr/>
          </p:nvSpPr>
          <p:spPr>
            <a:xfrm>
              <a:off x="12573000" y="2286000"/>
              <a:ext cx="10287000" cy="5143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3239750" y="2619375"/>
              <a:ext cx="92394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03 / IMPACT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New attrition strategy predicts a rate decrease of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3.41%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(from 12.2% to 8.79%).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Predicted churned employees working overtime decrease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28.3%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Churn with no stock options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55.1%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low stock options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2.94%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800"/>
                <a:buFont typeface="Arial"/>
                <a:buChar char="●"/>
              </a:pP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Churn for salary &lt;$5K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15%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 and for $5K-$10K decreases by </a:t>
              </a:r>
              <a:r>
                <a:rPr b="1" lang="en-CA" sz="18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56.2%</a:t>
              </a:r>
              <a:r>
                <a:rPr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12573000" y="7810500"/>
            <a:ext cx="10287000" cy="4000500"/>
            <a:chOff x="12573000" y="7810500"/>
            <a:chExt cx="10287000" cy="4000500"/>
          </a:xfrm>
        </p:grpSpPr>
        <p:sp>
          <p:nvSpPr>
            <p:cNvPr id="118" name="Google Shape;118;p15"/>
            <p:cNvSpPr/>
            <p:nvPr/>
          </p:nvSpPr>
          <p:spPr>
            <a:xfrm>
              <a:off x="12573000" y="7810500"/>
              <a:ext cx="10287000" cy="4000500"/>
            </a:xfrm>
            <a:prstGeom prst="roundRect">
              <a:avLst>
                <a:gd fmla="val 3809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2954000" y="81915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3239750" y="8143875"/>
              <a:ext cx="9239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 / INSIGHT &amp; RECOMMENDATION</a:t>
              </a:r>
              <a:endParaRPr b="0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Discover tailored strategic frameworks and specific mitigation actions designed to resolve key drivers in the subsequent sections.</a:t>
              </a:r>
              <a:endParaRPr sz="18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SEE DETAILED INSIGHTS IN SECTIONS 05 &amp; 06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143000" y="12573000"/>
            <a:ext cx="95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13335000" y="2857500"/>
            <a:ext cx="95250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500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sz="500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7621250" y="762000"/>
            <a:ext cx="51912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714500" y="4476750"/>
            <a:ext cx="17621250" cy="2857500"/>
            <a:chOff x="1714500" y="4476750"/>
            <a:chExt cx="17621250" cy="2857500"/>
          </a:xfrm>
        </p:grpSpPr>
        <p:sp>
          <p:nvSpPr>
            <p:cNvPr id="129" name="Google Shape;129;p16"/>
            <p:cNvSpPr/>
            <p:nvPr/>
          </p:nvSpPr>
          <p:spPr>
            <a:xfrm>
              <a:off x="1714500" y="4762500"/>
              <a:ext cx="152400" cy="22860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2190750" y="4476750"/>
              <a:ext cx="1714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SECTION 01</a:t>
              </a:r>
              <a:endParaRPr b="1" sz="2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8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BACKGROUND</a:t>
              </a:r>
              <a:endParaRPr b="0" sz="8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Understanding Attrition Patterns &amp; Predictive Insights</a:t>
              </a:r>
              <a:endParaRPr b="0" sz="2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1143000" y="762000"/>
            <a:ext cx="114300" cy="8574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524000" y="714375"/>
            <a:ext cx="1524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2022, IBM Employee </a:t>
            </a:r>
            <a:r>
              <a:rPr b="0" lang="en-CA" sz="3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Attrition Rate</a:t>
            </a: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is considered </a:t>
            </a:r>
            <a:r>
              <a:rPr b="0" lang="en-CA" sz="3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High (16.14%)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17145000" y="762000"/>
            <a:ext cx="5715000" cy="1238400"/>
            <a:chOff x="17145000" y="762000"/>
            <a:chExt cx="5715000" cy="1238400"/>
          </a:xfrm>
        </p:grpSpPr>
        <p:sp>
          <p:nvSpPr>
            <p:cNvPr id="139" name="Google Shape;139;p17"/>
            <p:cNvSpPr/>
            <p:nvPr/>
          </p:nvSpPr>
          <p:spPr>
            <a:xfrm>
              <a:off x="17145000" y="762000"/>
              <a:ext cx="571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7145000" y="762000"/>
              <a:ext cx="571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 ATTRITION</a:t>
              </a:r>
              <a:endParaRPr b="0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PREDICTION &amp; STRATEGY</a:t>
              </a:r>
              <a:endParaRPr b="1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b="0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1143000" y="2286000"/>
            <a:ext cx="10287000" cy="9906000"/>
            <a:chOff x="1143000" y="2286000"/>
            <a:chExt cx="10287000" cy="9906000"/>
          </a:xfrm>
        </p:grpSpPr>
        <p:sp>
          <p:nvSpPr>
            <p:cNvPr id="142" name="Google Shape;142;p17"/>
            <p:cNvSpPr/>
            <p:nvPr/>
          </p:nvSpPr>
          <p:spPr>
            <a:xfrm>
              <a:off x="114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180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ATTRITION BREAKDOWN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30" r="20" t="0"/>
          <a:stretch/>
        </p:blipFill>
        <p:spPr>
          <a:xfrm>
            <a:off x="4048125" y="3714750"/>
            <a:ext cx="4476900" cy="781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12573000" y="2286000"/>
            <a:ext cx="10287000" cy="9906000"/>
            <a:chOff x="12573000" y="2286000"/>
            <a:chExt cx="10287000" cy="9906000"/>
          </a:xfrm>
        </p:grpSpPr>
        <p:sp>
          <p:nvSpPr>
            <p:cNvPr id="147" name="Google Shape;147;p17"/>
            <p:cNvSpPr/>
            <p:nvPr/>
          </p:nvSpPr>
          <p:spPr>
            <a:xfrm>
              <a:off x="1257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1323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KEY ATTRITION METRICS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13239750" y="3619500"/>
              <a:ext cx="8953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3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232</a:t>
              </a:r>
              <a:endParaRPr b="0" sz="13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Employees Left the Company in 2022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Out of a total of </a:t>
              </a: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1,437</a:t>
              </a: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employees in the US, </a:t>
              </a: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232</a:t>
              </a:r>
              <a:r>
                <a:rPr b="0" lang="en-CA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departed, creating a critical high-attrition baseline.</a:t>
              </a:r>
              <a:endParaRPr b="0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3239750" y="7620000"/>
              <a:ext cx="8953500" cy="2476500"/>
            </a:xfrm>
            <a:prstGeom prst="roundRect">
              <a:avLst>
                <a:gd fmla="val 4615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3525500" y="7905750"/>
              <a:ext cx="8382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Strategic Focus for 2023</a:t>
              </a:r>
              <a:endParaRPr b="1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CA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We must aggressively focus on reducing the attrition rate in 2023 by addressing core drivers such as overtime workloads and optimized compensation structures.</a:t>
              </a:r>
              <a:endParaRPr b="0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Drivers of Employee Attrition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1143000" y="2286000"/>
            <a:ext cx="10287000" cy="9906000"/>
            <a:chOff x="1143000" y="2286000"/>
            <a:chExt cx="10287000" cy="9906000"/>
          </a:xfrm>
        </p:grpSpPr>
        <p:sp>
          <p:nvSpPr>
            <p:cNvPr id="161" name="Google Shape;161;p18"/>
            <p:cNvSpPr/>
            <p:nvPr/>
          </p:nvSpPr>
          <p:spPr>
            <a:xfrm>
              <a:off x="114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152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80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01 / CORRELATION ANALYSIS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1524000" y="3619500"/>
              <a:ext cx="9525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Overtime, Salary, and Stock Option Level</a:t>
              </a:r>
              <a:endParaRPr b="1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These three key organizational variables exhibit the </a:t>
              </a:r>
              <a:r>
                <a:rPr b="1" lang="en-CA" sz="24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strongest statistical correlation</a:t>
              </a:r>
              <a:r>
                <a:rPr b="0" lang="en-CA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with employee attrition rates across all analyzed demographics.</a:t>
              </a:r>
              <a:endParaRPr b="0" sz="2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1524000" y="7620000"/>
              <a:ext cx="9525000" cy="3048000"/>
            </a:xfrm>
            <a:prstGeom prst="roundRect">
              <a:avLst>
                <a:gd fmla="val 3750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809750" y="7905750"/>
              <a:ext cx="8953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Strategic Focus</a:t>
              </a:r>
              <a:endParaRPr b="1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CA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We can dig down the prediction and strategize the attrition rate by focusing on these most related variables to build targeted retention programs.</a:t>
              </a:r>
              <a:endParaRPr b="0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12573000" y="2286000"/>
            <a:ext cx="10287000" cy="9906000"/>
            <a:chOff x="12573000" y="2286000"/>
            <a:chExt cx="10287000" cy="9906000"/>
          </a:xfrm>
        </p:grpSpPr>
        <p:sp>
          <p:nvSpPr>
            <p:cNvPr id="168" name="Google Shape;168;p18"/>
            <p:cNvSpPr/>
            <p:nvPr/>
          </p:nvSpPr>
          <p:spPr>
            <a:xfrm>
              <a:off x="12573000" y="2286000"/>
              <a:ext cx="10287000" cy="99060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12954000" y="266700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3239750" y="2619375"/>
              <a:ext cx="923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02 / PRIMARY ATTRITION DRIVERS</a:t>
              </a:r>
              <a:endParaRPr b="0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8"/>
            <p:cNvPicPr preferRelativeResize="0"/>
            <p:nvPr/>
          </p:nvPicPr>
          <p:blipFill rotWithShape="1">
            <a:blip r:embed="rId4">
              <a:alphaModFix/>
            </a:blip>
            <a:srcRect b="110" l="0" r="0" t="100"/>
            <a:stretch/>
          </p:blipFill>
          <p:spPr>
            <a:xfrm>
              <a:off x="13144500" y="4953000"/>
              <a:ext cx="9144000" cy="2971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Drivers of Employee Attrition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9"/>
          <p:cNvGrpSpPr/>
          <p:nvPr/>
        </p:nvGrpSpPr>
        <p:grpSpPr>
          <a:xfrm>
            <a:off x="1143000" y="3048000"/>
            <a:ext cx="6762900" cy="8763000"/>
            <a:chOff x="1143000" y="3048000"/>
            <a:chExt cx="6762900" cy="8763000"/>
          </a:xfrm>
        </p:grpSpPr>
        <p:sp>
          <p:nvSpPr>
            <p:cNvPr id="180" name="Google Shape;180;p19"/>
            <p:cNvSpPr/>
            <p:nvPr/>
          </p:nvSpPr>
          <p:spPr>
            <a:xfrm>
              <a:off x="1143000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571625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1571625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alarm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714500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53.4%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714500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Worked Overtime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worked overtime.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8620125" y="3048000"/>
            <a:ext cx="6762900" cy="8763000"/>
            <a:chOff x="8620125" y="3048000"/>
            <a:chExt cx="6762900" cy="8763000"/>
          </a:xfrm>
        </p:grpSpPr>
        <p:sp>
          <p:nvSpPr>
            <p:cNvPr id="186" name="Google Shape;186;p19"/>
            <p:cNvSpPr/>
            <p:nvPr/>
          </p:nvSpPr>
          <p:spPr>
            <a:xfrm>
              <a:off x="8620125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9048750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9048750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9191625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69.3%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9191625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Salary Under $5,000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had a monthly salary less than $5,000.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16097250" y="3048000"/>
            <a:ext cx="6762900" cy="8763000"/>
            <a:chOff x="16097250" y="3048000"/>
            <a:chExt cx="6762900" cy="8763000"/>
          </a:xfrm>
        </p:grpSpPr>
        <p:sp>
          <p:nvSpPr>
            <p:cNvPr id="192" name="Google Shape;192;p19"/>
            <p:cNvSpPr/>
            <p:nvPr/>
          </p:nvSpPr>
          <p:spPr>
            <a:xfrm>
              <a:off x="16097250" y="3048000"/>
              <a:ext cx="6762900" cy="8763000"/>
            </a:xfrm>
            <a:prstGeom prst="roundRect">
              <a:avLst>
                <a:gd fmla="val 225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6525875" y="3571875"/>
              <a:ext cx="857400" cy="8574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6525875" y="3624453"/>
              <a:ext cx="85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6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pie_chart</a:t>
              </a:r>
              <a:endParaRPr sz="36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16668750" y="4762500"/>
              <a:ext cx="5619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80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65%</a:t>
              </a:r>
              <a:endParaRPr b="0" sz="80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16668750" y="6286500"/>
              <a:ext cx="56199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 Stock Options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750"/>
                </a:spcAft>
                <a:buNone/>
              </a:pPr>
              <a:r>
                <a:rPr b="0" lang="en-CA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 employees who left the company in 2022 had not received stock options yet.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43000" y="2667000"/>
            <a:ext cx="217647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1714500" y="3429000"/>
            <a:ext cx="6667500" cy="7620000"/>
          </a:xfrm>
          <a:prstGeom prst="roundRect">
            <a:avLst>
              <a:gd fmla="val 1714" name="adj"/>
            </a:avLst>
          </a:prstGeom>
          <a:solidFill>
            <a:srgbClr val="EFF6FF"/>
          </a:solidFill>
          <a:ln cap="flat" cmpd="sng" w="1905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524375" y="4333875"/>
            <a:ext cx="1047900" cy="1047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0"/>
          <p:cNvGrpSpPr/>
          <p:nvPr/>
        </p:nvGrpSpPr>
        <p:grpSpPr>
          <a:xfrm>
            <a:off x="4524375" y="4333875"/>
            <a:ext cx="1047900" cy="1123846"/>
            <a:chOff x="4524375" y="4333875"/>
            <a:chExt cx="1047900" cy="1123846"/>
          </a:xfrm>
        </p:grpSpPr>
        <p:sp>
          <p:nvSpPr>
            <p:cNvPr id="208" name="Google Shape;208;p20"/>
            <p:cNvSpPr/>
            <p:nvPr/>
          </p:nvSpPr>
          <p:spPr>
            <a:xfrm>
              <a:off x="4524375" y="4333875"/>
              <a:ext cx="1047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4524375" y="4409821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5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5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2095500" y="5810250"/>
            <a:ext cx="5905500" cy="3810000"/>
            <a:chOff x="2095500" y="5810250"/>
            <a:chExt cx="5905500" cy="3810000"/>
          </a:xfrm>
        </p:grpSpPr>
        <p:sp>
          <p:nvSpPr>
            <p:cNvPr id="211" name="Google Shape;211;p20"/>
            <p:cNvSpPr/>
            <p:nvPr/>
          </p:nvSpPr>
          <p:spPr>
            <a:xfrm>
              <a:off x="2095500" y="5810250"/>
              <a:ext cx="59055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2095500" y="5810250"/>
              <a:ext cx="5905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TARGET GOAL</a:t>
              </a:r>
              <a:endParaRPr b="1" sz="24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9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&lt; 10%</a:t>
              </a:r>
              <a:endParaRPr b="0" sz="9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Employee Attrition Rate</a:t>
              </a:r>
              <a:b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CA" sz="2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by End of 2023</a:t>
              </a:r>
              <a:endParaRPr b="0" sz="2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8953500" y="3810000"/>
            <a:ext cx="13144500" cy="6858000"/>
            <a:chOff x="8953500" y="3810000"/>
            <a:chExt cx="13144500" cy="6858000"/>
          </a:xfrm>
        </p:grpSpPr>
        <p:sp>
          <p:nvSpPr>
            <p:cNvPr id="214" name="Google Shape;214;p20"/>
            <p:cNvSpPr/>
            <p:nvPr/>
          </p:nvSpPr>
          <p:spPr>
            <a:xfrm>
              <a:off x="8953500" y="3810000"/>
              <a:ext cx="13144500" cy="685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8953500" y="3810000"/>
              <a:ext cx="13144500" cy="6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CORE CHALLENGE</a:t>
              </a:r>
              <a:endParaRPr b="1" sz="2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How to </a:t>
              </a:r>
              <a:r>
                <a:rPr b="1" lang="en-CA" sz="4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reduce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the IBM employee attrition rate to below </a:t>
              </a:r>
              <a:r>
                <a:rPr b="1" lang="en-CA" sz="4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10%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by </a:t>
              </a:r>
              <a:r>
                <a:rPr b="1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strategizing the attrition prediction</a:t>
              </a:r>
              <a:r>
                <a:rPr b="0" lang="en-CA" sz="4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until the end of 2023?</a:t>
              </a:r>
              <a:endParaRPr b="0" sz="4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ISSUE TREE: DECISION FRAMEWORK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1"/>
          <p:cNvGrpSpPr/>
          <p:nvPr/>
        </p:nvGrpSpPr>
        <p:grpSpPr>
          <a:xfrm>
            <a:off x="1143000" y="2476500"/>
            <a:ext cx="6667500" cy="2095500"/>
            <a:chOff x="1143000" y="2476500"/>
            <a:chExt cx="6667500" cy="2095500"/>
          </a:xfrm>
        </p:grpSpPr>
        <p:sp>
          <p:nvSpPr>
            <p:cNvPr id="224" name="Google Shape;224;p21"/>
            <p:cNvSpPr/>
            <p:nvPr/>
          </p:nvSpPr>
          <p:spPr>
            <a:xfrm>
              <a:off x="1143000" y="24765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1428750" y="2714625"/>
              <a:ext cx="6096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2022 CURRENT STATE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CA" sz="2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Attrition Rate is High</a:t>
              </a:r>
              <a:endParaRPr b="1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CA" sz="3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16.14%</a:t>
              </a:r>
              <a:endParaRPr b="0" sz="3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1"/>
          <p:cNvGrpSpPr/>
          <p:nvPr/>
        </p:nvGrpSpPr>
        <p:grpSpPr>
          <a:xfrm>
            <a:off x="8953500" y="2476500"/>
            <a:ext cx="13954200" cy="2095500"/>
            <a:chOff x="8953500" y="2476500"/>
            <a:chExt cx="13954200" cy="2095500"/>
          </a:xfrm>
        </p:grpSpPr>
        <p:sp>
          <p:nvSpPr>
            <p:cNvPr id="227" name="Google Shape;227;p21"/>
            <p:cNvSpPr/>
            <p:nvPr/>
          </p:nvSpPr>
          <p:spPr>
            <a:xfrm>
              <a:off x="8953500" y="2476500"/>
              <a:ext cx="13954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9239250" y="2714625"/>
              <a:ext cx="13382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88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KEY DRIVERS OF 2022 ATTRITION</a:t>
              </a:r>
              <a:endParaRPr b="1" sz="88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53.4%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Worked Overtime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69.3%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Salary Under $5,000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CA" sz="176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65.0%</a:t>
              </a:r>
              <a:endParaRPr b="0" sz="176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CA" sz="82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 Stock Options</a:t>
              </a:r>
              <a:endParaRPr b="1" sz="8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1143000" y="5334000"/>
            <a:ext cx="6667500" cy="2095500"/>
            <a:chOff x="1143000" y="5334000"/>
            <a:chExt cx="6667500" cy="2095500"/>
          </a:xfrm>
        </p:grpSpPr>
        <p:sp>
          <p:nvSpPr>
            <p:cNvPr id="230" name="Google Shape;230;p21"/>
            <p:cNvSpPr/>
            <p:nvPr/>
          </p:nvSpPr>
          <p:spPr>
            <a:xfrm>
              <a:off x="1143000" y="53340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1428750" y="56197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PATH A: PREDICTION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Analyze 2022 Attrition Data</a:t>
              </a:r>
              <a:endParaRPr b="1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Establish baseline metrics to accurately predict the employee attrition rate of 2023.</a:t>
              </a:r>
              <a:endParaRPr b="0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8953500" y="5334000"/>
            <a:ext cx="13954200" cy="2095500"/>
            <a:chOff x="8953500" y="5334000"/>
            <a:chExt cx="13954200" cy="2095500"/>
          </a:xfrm>
        </p:grpSpPr>
        <p:sp>
          <p:nvSpPr>
            <p:cNvPr id="233" name="Google Shape;233;p21"/>
            <p:cNvSpPr/>
            <p:nvPr/>
          </p:nvSpPr>
          <p:spPr>
            <a:xfrm>
              <a:off x="8953500" y="5334000"/>
              <a:ext cx="139542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9239250" y="5619750"/>
              <a:ext cx="13382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PATH B: STRATEGY &amp; MITIGATION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Formulate Targeted Interventions</a:t>
              </a:r>
              <a:endParaRPr b="1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Design strategic programs specifically addressing overtime, compensation, and stock benefits to minimize future attrition.</a:t>
              </a:r>
              <a:endParaRPr b="0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1143000" y="8191500"/>
            <a:ext cx="6667500" cy="2095500"/>
            <a:chOff x="1143000" y="8191500"/>
            <a:chExt cx="6667500" cy="2095500"/>
          </a:xfrm>
        </p:grpSpPr>
        <p:sp>
          <p:nvSpPr>
            <p:cNvPr id="236" name="Google Shape;236;p21"/>
            <p:cNvSpPr/>
            <p:nvPr/>
          </p:nvSpPr>
          <p:spPr>
            <a:xfrm>
              <a:off x="1143000" y="8191500"/>
              <a:ext cx="66675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1428750" y="8477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1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What is the predicted IBM attrition rate for 2023?</a:t>
              </a:r>
              <a:endParaRPr b="1" sz="2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5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Quantifying the baseline trajectory using logistic regression modeling.</a:t>
              </a:r>
              <a:endParaRPr b="0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8953500" y="8191500"/>
            <a:ext cx="6762900" cy="2095500"/>
            <a:chOff x="8953500" y="8191500"/>
            <a:chExt cx="6762900" cy="2095500"/>
          </a:xfrm>
        </p:grpSpPr>
        <p:sp>
          <p:nvSpPr>
            <p:cNvPr id="239" name="Google Shape;239;p21"/>
            <p:cNvSpPr/>
            <p:nvPr/>
          </p:nvSpPr>
          <p:spPr>
            <a:xfrm>
              <a:off x="8953500" y="8191500"/>
              <a:ext cx="67629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9239250" y="8477250"/>
              <a:ext cx="619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48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2</a:t>
              </a:r>
              <a:endParaRPr b="1" sz="148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35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What strategies can we plan to reduce 2023 attrition?</a:t>
              </a:r>
              <a:endParaRPr b="1" sz="2035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38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Developing targeted policies around overtime policies and compensation structures.</a:t>
              </a:r>
              <a:endParaRPr b="0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16144875" y="8191500"/>
            <a:ext cx="6762900" cy="2095500"/>
            <a:chOff x="16144875" y="8191500"/>
            <a:chExt cx="6762900" cy="2095500"/>
          </a:xfrm>
        </p:grpSpPr>
        <p:sp>
          <p:nvSpPr>
            <p:cNvPr id="242" name="Google Shape;242;p21"/>
            <p:cNvSpPr/>
            <p:nvPr/>
          </p:nvSpPr>
          <p:spPr>
            <a:xfrm>
              <a:off x="16144875" y="8191500"/>
              <a:ext cx="6762900" cy="20955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 cap="flat" cmpd="sng" w="1905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16430625" y="8477250"/>
              <a:ext cx="6191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148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KEY INQUIRY 3</a:t>
              </a:r>
              <a:endParaRPr b="1" sz="148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CA" sz="2035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How much can our strategies reduce the predicted rate?</a:t>
              </a:r>
              <a:endParaRPr b="1" sz="2035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CA" sz="1388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Performing impact analysis to project reduction percentages against target goals.</a:t>
              </a:r>
              <a:endParaRPr b="0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463" y="4572000"/>
            <a:ext cx="28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524000" y="685800"/>
            <a:ext cx="15240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143000" y="2667000"/>
            <a:ext cx="217647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161925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61925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Defining Business Problem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Background, problem statement, and objective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76300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76300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Preparation &amp; Cleaning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Gather the data and cleaning using Python (missing values, duplicates, unused data, etc.)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5906750" y="32385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5906750" y="32385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Explore the data and gather deep structural insights and information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161925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61925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7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Analyze using Logistic Regression, predict attrition rates, evaluate corporate strategies, and perform impact analysis</a:t>
            </a:r>
            <a:endParaRPr b="0" sz="17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876300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76300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Visualize data with dynamic charts and dashboards to communicate findings in presentation format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5906750" y="7620000"/>
            <a:ext cx="6667500" cy="381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5906750" y="7620000"/>
            <a:ext cx="6667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0" lIns="381000" spcFirstLastPara="1" rIns="381000" wrap="square" tIns="3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Insight &amp; Recommendation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Address insights and deliver tactical recommendations generated from the comprehensive analysis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22383750" y="12477750"/>
            <a:ext cx="95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/>
        </p:nvSpPr>
        <p:spPr>
          <a:xfrm>
            <a:off x="12382500" y="2381250"/>
            <a:ext cx="95250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45000">
                <a:solidFill>
                  <a:srgbClr val="1A2E4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sz="45000">
              <a:solidFill>
                <a:srgbClr val="1A2E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381250" y="3810000"/>
            <a:ext cx="1143000" cy="114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2381250" y="4381500"/>
            <a:ext cx="1714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1" sz="28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-CA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&amp; EVALUATION</a:t>
            </a:r>
            <a:endParaRPr b="1" sz="8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5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sz="5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148 Employees (12.2%)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are predicted to leave the company in 2023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4"/>
          <p:cNvPicPr preferRelativeResize="0"/>
          <p:nvPr/>
        </p:nvPicPr>
        <p:blipFill rotWithShape="1">
          <a:blip r:embed="rId4">
            <a:alphaModFix/>
          </a:blip>
          <a:srcRect b="4628" l="0" r="0" t="4619"/>
          <a:stretch/>
        </p:blipFill>
        <p:spPr>
          <a:xfrm>
            <a:off x="2095500" y="2952750"/>
            <a:ext cx="80964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Model Basis</a:t>
            </a:r>
            <a:endParaRPr b="1" sz="2200">
              <a:solidFill>
                <a:srgbClr val="0F172A"/>
              </a:solidFill>
              <a:highlight>
                <a:srgbClr val="F1F5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475569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The prediction model is based on </a:t>
            </a:r>
            <a:r>
              <a:rPr b="1" lang="en-CA" sz="1800">
                <a:solidFill>
                  <a:srgbClr val="1D4ED8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lang="en-CA" sz="1800">
                <a:solidFill>
                  <a:srgbClr val="475569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 analysis of the 2022 attrition rate data.</a:t>
            </a:r>
            <a:endParaRPr sz="1800">
              <a:solidFill>
                <a:srgbClr val="475569"/>
              </a:solidFill>
              <a:highlight>
                <a:srgbClr val="F1F5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 of 1,205 employees in 2023: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High Risk (51% - 100% chance of leaving)</a:t>
            </a:r>
            <a:endParaRPr b="1" sz="1800">
              <a:solidFill>
                <a:srgbClr val="991B1B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7F1D1D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Employees exhibit a strong tendency to leave and require immediate mitigation.</a:t>
            </a:r>
            <a:endParaRPr sz="1500">
              <a:solidFill>
                <a:srgbClr val="7F1D1D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117</a:t>
            </a:r>
            <a:endParaRPr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Medium Risk (31% - 50% chance of leaving)</a:t>
            </a:r>
            <a:endParaRPr b="1" sz="1800">
              <a:solidFill>
                <a:srgbClr val="C2410C"/>
              </a:solidFill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7C2D12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Employees demonstrate early signals of potential attrition.</a:t>
            </a:r>
            <a:endParaRPr sz="1500">
              <a:solidFill>
                <a:srgbClr val="7C2D12"/>
              </a:solidFill>
              <a:highlight>
                <a:srgbClr val="FFF7E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1,057</a:t>
            </a:r>
            <a:endParaRPr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Low Risk / Stable (0% - 30% chance of leaving)</a:t>
            </a:r>
            <a:endParaRPr b="1" sz="1800">
              <a:solidFill>
                <a:srgbClr val="15803D"/>
              </a:solidFill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4532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Employees with a strong, predictable tendency to remain with the company.</a:t>
            </a:r>
            <a:endParaRPr sz="1500">
              <a:solidFill>
                <a:srgbClr val="14532D"/>
              </a:solidFill>
              <a:highlight>
                <a:srgbClr val="F0FDF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524000" y="685800"/>
            <a:ext cx="157161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i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all predicted churned employees</a:t>
            </a: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work overtime</a:t>
            </a:r>
            <a:endParaRPr b="0" i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17145000" y="762000"/>
            <a:ext cx="5715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i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2809875"/>
            <a:ext cx="7170300" cy="88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2001500" y="3048000"/>
            <a:ext cx="10477500" cy="52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Overtime Status Analysis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Analysis of 1,205 employees in 2023 shows strong correlation with overtime.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i="0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Metrics:</a:t>
            </a:r>
            <a:endParaRPr b="1" i="0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148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Overtime &amp; Predicted to Leave (12.28%)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Represents 100% of all predicted churned employees. Urgent mitigation needed.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Overtime &amp; Predicted to Stay (10.79%)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7C2D12"/>
                </a:solidFill>
                <a:latin typeface="Arial"/>
                <a:ea typeface="Arial"/>
                <a:cs typeface="Arial"/>
                <a:sym typeface="Arial"/>
              </a:rPr>
              <a:t>Employees currently staying but working overtime under high burnout risk.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CA" sz="2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927</a:t>
            </a:r>
            <a:endParaRPr b="1" i="0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Non-Overtime &amp; Predicted to Stay (76.93%)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CA" sz="1500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Stable employee group with zero predicted attrition.</a:t>
            </a:r>
            <a:endParaRPr b="1" i="0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Limit overtime to lower job levels and urgent situations only.</a:t>
            </a:r>
            <a:endParaRPr b="1" i="0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most predicted churned employees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have salary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less than $5,000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 rotWithShape="1">
          <a:blip r:embed="rId4">
            <a:alphaModFix/>
          </a:blip>
          <a:srcRect b="-2944" l="120" r="130" t="-2944"/>
          <a:stretch/>
        </p:blipFill>
        <p:spPr>
          <a:xfrm>
            <a:off x="2095500" y="2952750"/>
            <a:ext cx="80964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Salary Bin Analysis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Regarding the 148 predicted churned employees:</a:t>
            </a:r>
            <a:endParaRPr b="1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Earn &lt; $5,000 / month (67.6%)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vast majority of predicted attrition is concentrated in this lowest salary tier.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Earn $5,000 - $10,000 / month (32.4%)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Moderate attrition risk. Middle-income bracket showing lower overall vulnerability.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Earn &gt; $10,000 / month (0.0%)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Zero predicted attrition for high earners, demonstrating strong organizational stability.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Mitigate risk by optimizing entry-level compensation based on performance, job involvement, and clear promotional pathways.</a:t>
            </a:r>
            <a:endParaRPr b="1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Based on prediction,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most predicted churned employees</a:t>
            </a: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 2023 </a:t>
            </a:r>
            <a:r>
              <a:rPr b="0" lang="en-CA" sz="3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did not receive stock options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1143000" y="2667000"/>
            <a:ext cx="100014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11620500" y="2667000"/>
            <a:ext cx="11239500" cy="9144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7"/>
          <p:cNvPicPr preferRelativeResize="0"/>
          <p:nvPr/>
        </p:nvPicPr>
        <p:blipFill rotWithShape="1">
          <a:blip r:embed="rId3">
            <a:alphaModFix/>
          </a:blip>
          <a:srcRect b="0" l="710" r="720" t="0"/>
          <a:stretch/>
        </p:blipFill>
        <p:spPr>
          <a:xfrm>
            <a:off x="2190750" y="3238500"/>
            <a:ext cx="7810500" cy="80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12001500" y="3048000"/>
            <a:ext cx="10477500" cy="83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Stock Option Level Analysis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Regarding the 148 predicted churned employees: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No Stock Options (52.7%)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absolute majority of predicted churned employees received no stock options.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rPr>
              <a:t>Small Amount (45.9%)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High churn risk also persists for employees with only a small stock option level.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rPr>
              <a:t>Moderate / Large Amount (1.4%)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Extremely low attrition among employees with moderate or large stock option levels.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recommendation: Mitigate risk by fairly granting stock options based on performance, loyalty, and job involvement.</a:t>
            </a:r>
            <a:endParaRPr b="1" sz="16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8"/>
          <p:cNvGrpSpPr/>
          <p:nvPr/>
        </p:nvGrpSpPr>
        <p:grpSpPr>
          <a:xfrm>
            <a:off x="17145000" y="5715000"/>
            <a:ext cx="952500" cy="952500"/>
            <a:chOff x="17145000" y="5715000"/>
            <a:chExt cx="952500" cy="952500"/>
          </a:xfrm>
        </p:grpSpPr>
        <p:sp>
          <p:nvSpPr>
            <p:cNvPr id="327" name="Google Shape;327;p28"/>
            <p:cNvSpPr/>
            <p:nvPr/>
          </p:nvSpPr>
          <p:spPr>
            <a:xfrm>
              <a:off x="17145000" y="5715000"/>
              <a:ext cx="952500" cy="952500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17526000" y="6096000"/>
              <a:ext cx="190500" cy="190500"/>
            </a:xfrm>
            <a:prstGeom prst="ellipse">
              <a:avLst/>
            </a:prstGeom>
            <a:solidFill>
              <a:srgbClr val="38BDF8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8"/>
          <p:cNvSpPr txBox="1"/>
          <p:nvPr/>
        </p:nvSpPr>
        <p:spPr>
          <a:xfrm>
            <a:off x="1714500" y="1333500"/>
            <a:ext cx="1428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Employee Attriti</a:t>
            </a: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</a:t>
            </a:r>
            <a:r>
              <a:rPr b="0" lang="en-CA" sz="2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 Prediction &amp; Strategy</a:t>
            </a:r>
            <a:endParaRPr b="0" sz="220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21526500" y="11620500"/>
            <a:ext cx="95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2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1714500" y="3048000"/>
            <a:ext cx="114300" cy="45720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2286000" y="2952750"/>
            <a:ext cx="11430000" cy="495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0">
                <a:solidFill>
                  <a:srgbClr val="38BDF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sz="13000">
              <a:solidFill>
                <a:srgbClr val="38BDF8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CA" sz="8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Impact Analysis</a:t>
            </a:r>
            <a:endParaRPr b="1" sz="8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b="0" lang="en-CA" sz="2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Evaluating the projected organizational outcomes, retention improvements, and strategic business benefits.</a:t>
            </a:r>
            <a:endParaRPr b="0" sz="2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of Attrition Prediction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New strategy model to help decrease the attrition rate in IBM US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1430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85725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16002000" y="2667000"/>
            <a:ext cx="6858000" cy="8382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15240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40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Level Restriction:</a:t>
            </a: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Only applied in job level 1 and 2.</a:t>
            </a:r>
            <a:endParaRPr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75569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Urgent Condition:</a:t>
            </a: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Applied under urgent conditions only.</a:t>
            </a:r>
            <a:endParaRPr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89535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Performance-Based Increase: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1 (worst) = 2%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2 = 3% | Performance 3 = 4%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Performance 4 (best) = 5%</a:t>
            </a:r>
            <a:endParaRPr sz="15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Involvement Increase: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1 (worst) = 2%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2 = 3% | Involvement 3 = 4%</a:t>
            </a:r>
            <a:b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5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Involvement 4 (best) = 5%</a:t>
            </a:r>
            <a:endParaRPr sz="15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Promotion Criteria (+15%):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0" lang="en-CA" sz="15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Performance 4 + Job Involvement 3-4 + Min. 1 Training attended.</a:t>
            </a:r>
            <a:endParaRPr b="0" sz="15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16383000" y="3048000"/>
            <a:ext cx="60960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VARIABLE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 Level Parameters: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 4: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Job Involvement 4: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 Over 5 Years:</a:t>
            </a:r>
            <a:r>
              <a:rPr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6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+1 level</a:t>
            </a:r>
            <a:endParaRPr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Overall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new strategy, overall predicted attrition rate decreases by 3.41% (from 12.2% to 8.79%)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0"/>
          <p:cNvPicPr preferRelativeResize="0"/>
          <p:nvPr/>
        </p:nvPicPr>
        <p:blipFill rotWithShape="1">
          <a:blip r:embed="rId4">
            <a:alphaModFix/>
          </a:blip>
          <a:srcRect b="0" l="30" r="20" t="0"/>
          <a:stretch/>
        </p:blipFill>
        <p:spPr>
          <a:xfrm>
            <a:off x="1333500" y="3143250"/>
            <a:ext cx="12954000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Number of predicted churned employees based on overall probability: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30% - 50% Chance of Leaving: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117 to 84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200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51% - 100% Chance of Leaving: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31 to 22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who work overtime decreased by 28.3%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4">
            <a:alphaModFix/>
          </a:blip>
          <a:srcRect b="0" l="9256" r="9264" t="0"/>
          <a:stretch/>
        </p:blipFill>
        <p:spPr>
          <a:xfrm>
            <a:off x="1524000" y="3429000"/>
            <a:ext cx="12573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1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1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reduction in overtime-related employee churn: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Churn Volume:</a:t>
            </a:r>
            <a:br>
              <a:rPr b="1" lang="en-CA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148 to 106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2000"/>
              </a:spcBef>
              <a:spcAft>
                <a:spcPts val="2000"/>
              </a:spcAft>
              <a:buClr>
                <a:srgbClr val="1D4ED8"/>
              </a:buClr>
              <a:buSzPts val="14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Proportional Decrease:</a:t>
            </a:r>
            <a:br>
              <a:rPr b="1" lang="en-CA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-28.3% Attrition Drop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2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0" y="0"/>
            <a:ext cx="24050700" cy="135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1524000" y="685800"/>
            <a:ext cx="15716100" cy="91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Attrition Reduction</a:t>
            </a:r>
            <a:endParaRPr b="0" i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with low-to-medium salaries saw significant decreases</a:t>
            </a:r>
            <a:endParaRPr b="0" i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17145000" y="762000"/>
            <a:ext cx="5715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i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i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i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4">
            <a:alphaModFix/>
          </a:blip>
          <a:srcRect b="0" l="7892" r="7883" t="0"/>
          <a:stretch/>
        </p:blipFill>
        <p:spPr>
          <a:xfrm>
            <a:off x="1333500" y="4105275"/>
            <a:ext cx="12954000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i="0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i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drop in churn volume across key salary brackets:</a:t>
            </a:r>
            <a:endParaRPr b="0" i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Under $5K: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15.0%</a:t>
            </a: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(from 100 to 85)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Salary $5K - $10K: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56.2%</a:t>
            </a: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(from 48 to 21)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Overtime Churn:</a:t>
            </a:r>
            <a:br>
              <a:rPr b="1" i="0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from 148 to 106</a:t>
            </a:r>
            <a:endParaRPr b="1" i="0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22383750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1" i="0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Stock Option Attrition Reduction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With the new attrition strategy, predicted churned employees with no stock option decreased by 55.1%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1143000" y="2667000"/>
            <a:ext cx="13335000" cy="83820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33"/>
          <p:cNvPicPr preferRelativeResize="0"/>
          <p:nvPr/>
        </p:nvPicPr>
        <p:blipFill rotWithShape="1">
          <a:blip r:embed="rId4">
            <a:alphaModFix/>
          </a:blip>
          <a:srcRect b="0" l="11305" r="11313" t="0"/>
          <a:stretch/>
        </p:blipFill>
        <p:spPr>
          <a:xfrm>
            <a:off x="1333500" y="3762375"/>
            <a:ext cx="12954000" cy="619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/>
          <p:nvPr/>
        </p:nvSpPr>
        <p:spPr>
          <a:xfrm>
            <a:off x="14859000" y="2667000"/>
            <a:ext cx="8048700" cy="8382000"/>
          </a:xfrm>
          <a:prstGeom prst="roundRect">
            <a:avLst>
              <a:gd fmla="val 1893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15240000" y="3048000"/>
            <a:ext cx="7286700" cy="76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METRICS SUMMARY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Strategy Impact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Significant drop in churn volume across stock option levels: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0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55.1%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28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Decreased by 2.94%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●"/>
            </a:pPr>
            <a: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Moderate Stock Option:</a:t>
            </a:r>
            <a:br>
              <a:rPr b="1" lang="en-CA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Slight increase (minimal overall impact)</a:t>
            </a:r>
            <a:endParaRPr b="1" sz="1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2381250" y="4476750"/>
            <a:ext cx="1905000" cy="95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2381250" y="2667000"/>
            <a:ext cx="19050000" cy="7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Part 04</a:t>
            </a:r>
            <a:endParaRPr b="1" sz="36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0"/>
              </a:spcBef>
              <a:spcAft>
                <a:spcPts val="0"/>
              </a:spcAft>
              <a:buNone/>
            </a:pPr>
            <a:r>
              <a:rPr b="0" lang="en-CA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 and</a:t>
            </a:r>
            <a:br>
              <a:rPr b="0" lang="en-CA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96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sz="9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Attrition Insights &amp; Analytics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Key drivers, predictive insights, and targeted strategies for 2023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35"/>
          <p:cNvGrpSpPr/>
          <p:nvPr/>
        </p:nvGrpSpPr>
        <p:grpSpPr>
          <a:xfrm>
            <a:off x="1143000" y="2667000"/>
            <a:ext cx="21717000" cy="9429900"/>
            <a:chOff x="1143000" y="2667000"/>
            <a:chExt cx="21717000" cy="9429900"/>
          </a:xfrm>
        </p:grpSpPr>
        <p:sp>
          <p:nvSpPr>
            <p:cNvPr id="411" name="Google Shape;411;p35"/>
            <p:cNvSpPr/>
            <p:nvPr/>
          </p:nvSpPr>
          <p:spPr>
            <a:xfrm>
              <a:off x="1143000" y="2667000"/>
              <a:ext cx="10477500" cy="3810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1143000" y="6762750"/>
              <a:ext cx="10477500" cy="5334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12001500" y="2667000"/>
              <a:ext cx="10858500" cy="5048400"/>
            </a:xfrm>
            <a:prstGeom prst="roundRect">
              <a:avLst>
                <a:gd fmla="val 301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12001500" y="8001000"/>
              <a:ext cx="10858500" cy="4095900"/>
            </a:xfrm>
            <a:prstGeom prst="roundRect">
              <a:avLst>
                <a:gd fmla="val 372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35"/>
          <p:cNvSpPr txBox="1"/>
          <p:nvPr/>
        </p:nvSpPr>
        <p:spPr>
          <a:xfrm>
            <a:off x="1524000" y="3048000"/>
            <a:ext cx="9715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KEY DRIVERS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Primary Variables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Overtime, Salary, and Stock Option Level are the most critical variables for strategizing. These factors hold the highest correlation with employee attrition at IBM, serving as the foundation of our predictive models.</a:t>
            </a:r>
            <a:endParaRPr b="0" sz="2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1524000" y="7143750"/>
            <a:ext cx="9715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ACTION PLAN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Mitigation Strategy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Limit Overtime Hours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Directly address and reduce the heavy workload of employees who systematically log overtime.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Fairly Increase Salaries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Conduct market adjustments to elevate compensation bands, focusing on key roles under the $5,000 threshold.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CA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Distribute Stock Options Equitably</a:t>
            </a:r>
            <a:br>
              <a:rPr lang="en-CA" sz="1400">
                <a:latin typeface="Arial"/>
                <a:ea typeface="Arial"/>
                <a:cs typeface="Arial"/>
                <a:sym typeface="Arial"/>
              </a:rPr>
            </a:br>
            <a:r>
              <a:rPr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Expand the stock option eligibility criteria to build long-term retention and ownership among staff.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2382500" y="3048000"/>
            <a:ext cx="10096500" cy="428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95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PREDICTIVE FORECAST</a:t>
            </a:r>
            <a:endParaRPr b="1" sz="1295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29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2023 Baseline Attrition Risk</a:t>
            </a:r>
            <a:endParaRPr b="0" sz="296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CA" sz="407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12.2%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48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PREDICTED ATTRITION</a:t>
            </a:r>
            <a:r>
              <a:rPr b="1" lang="en-CA" sz="1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Overall Baseline Risk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48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projected attrition rate for 2023 if no tactical mitigation strategy is implemented.</a:t>
            </a:r>
            <a:endParaRPr sz="12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 Overtime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67.5%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Salary &lt; $5,000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r>
              <a:rPr b="0" lang="en-CA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52.7%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b="0" lang="en-CA" sz="138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 Stock Options</a:t>
            </a:r>
            <a:br>
              <a:rPr lang="en-CA" sz="1295">
                <a:latin typeface="Arial"/>
                <a:ea typeface="Arial"/>
                <a:cs typeface="Arial"/>
                <a:sym typeface="Arial"/>
              </a:rPr>
            </a:br>
            <a:r>
              <a:rPr lang="en-CA" sz="13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of predicted churns</a:t>
            </a:r>
            <a:endParaRPr sz="129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12382500" y="8382000"/>
            <a:ext cx="100965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04. TARGET IMPACT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CA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Projected Strategy Outcomes</a:t>
            </a:r>
            <a:endParaRPr b="0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CA" sz="4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-3.41%</a:t>
            </a:r>
            <a:br>
              <a:rPr lang="en-CA" sz="1400"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CA" sz="1600">
                <a:solidFill>
                  <a:srgbClr val="64748B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Attrition Reduction</a:t>
            </a:r>
            <a:r>
              <a:rPr b="0" lang="en-CA" sz="48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8.79%</a:t>
            </a:r>
            <a:br>
              <a:rPr lang="en-CA" sz="1400"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CA" sz="16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Target Attrition Rate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2383750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Strategic action plans for organizational stability and attrition mitigation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1430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6"/>
          <p:cNvSpPr txBox="1"/>
          <p:nvPr/>
        </p:nvSpPr>
        <p:spPr>
          <a:xfrm>
            <a:off x="15240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CHIEF OPERATING OFFICER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Establish Strategic Guidelines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Adopt the analyzed strategy as the primary organizational guideline for executive planning.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CA" sz="4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8.79%</a:t>
            </a:r>
            <a:endParaRPr b="0" sz="4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ATTRITION RATE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CA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Proven in rigorous impact analysis to keep employee retention within optimal bounds.</a:t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847725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885825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HUMAN RESOURCES TEAM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Monitor Promotion &amp; Training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Develop strong pathways for upward mobility to secure talent pipeline continuity.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Track Promotion Eligibility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Assess candidates proactively using standard performance and job involvement metrics.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Targeted Career Training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Facilitate specialized programs to elevate critical internal skills and boost long-term commitment.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158115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161925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MANAGERS &amp; LEADERS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Objectivity &amp; Overtime Control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Ensure a balanced workplace by reducing subjective reviews and workload fatigue.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Standardize Appraisals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Keep ratings highly objective by strictly tying them to direct performance and job metrics.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Char char="●"/>
            </a:pPr>
            <a:r>
              <a:rPr b="1" lang="en-CA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Manage Overtime Hours</a:t>
            </a:r>
            <a:b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CA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Closely monitor team workload and fatigue limits to maintain operational effectiveness.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21955125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/>
          <p:nvPr/>
        </p:nvSpPr>
        <p:spPr>
          <a:xfrm>
            <a:off x="1524000" y="4953000"/>
            <a:ext cx="152400" cy="1905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 txBox="1"/>
          <p:nvPr/>
        </p:nvSpPr>
        <p:spPr>
          <a:xfrm>
            <a:off x="2000250" y="4762500"/>
            <a:ext cx="17145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7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Appendices</a:t>
            </a:r>
            <a:endParaRPr b="0" sz="7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CA" sz="2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Dataset sources, analysis notebooks, and interactive visualizations</a:t>
            </a:r>
            <a:endParaRPr b="0" sz="2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b="0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0"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 txBox="1"/>
          <p:nvPr/>
        </p:nvSpPr>
        <p:spPr>
          <a:xfrm>
            <a:off x="21955125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8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1524000" y="685800"/>
            <a:ext cx="157161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 &amp; Analysis Process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Direct links to the raw data sources, python modeling environments, and production dashboards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8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11430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15240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01. SOURCE DATA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Kiggle Attrition Dataset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Explore the foundational IBM HR Analytics dataset used for training models and extracting key attrition drivers.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Dataset from Kaggle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847725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885825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02. PROCESSING &amp; MODELING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Google Colab Python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the Python notebook to review the pipeline: data preprocessing, exploratory analysis, and machine learning models.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Colab Notebook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15811500" y="2857500"/>
            <a:ext cx="6858000" cy="7810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16192500" y="3238500"/>
            <a:ext cx="6096000" cy="704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4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rPr>
              <a:t>03. INTERACTIVE VISUALS</a:t>
            </a:r>
            <a:endParaRPr b="1" sz="14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CA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Tableau Dashboard</a:t>
            </a:r>
            <a:endParaRPr b="0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CA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Access interactive dashboards to analyze metrics dynamically, filtering by department, overtime, and salary bins.</a:t>
            </a:r>
            <a:endParaRPr b="0" sz="18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b="1" lang="en-CA" sz="1800" u="sng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 (Dashboard) →</a:t>
            </a:r>
            <a:endParaRPr b="1" sz="18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8"/>
          <p:cNvSpPr txBox="1"/>
          <p:nvPr/>
        </p:nvSpPr>
        <p:spPr>
          <a:xfrm>
            <a:off x="21955125" y="12477750"/>
            <a:ext cx="95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053798" cy="1353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045374" cy="135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/>
          <p:nvPr/>
        </p:nvSpPr>
        <p:spPr>
          <a:xfrm>
            <a:off x="1143000" y="762000"/>
            <a:ext cx="114300" cy="11430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>
            <a:off x="1524000" y="685800"/>
            <a:ext cx="15716100" cy="9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VARIABLES' CORRELATION WITH ATTRITION</a:t>
            </a:r>
            <a:endParaRPr b="0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Heatmap showing the linear correlation coefficients between key numeric employee attributes and attrition</a:t>
            </a:r>
            <a:endParaRPr b="0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17145000" y="762000"/>
            <a:ext cx="571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EMPLOYEE ATTRITION</a:t>
            </a:r>
            <a:endParaRPr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PREDICTION &amp; STRATEGY</a:t>
            </a:r>
            <a:endParaRPr b="1" sz="200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1143000" y="2476500"/>
            <a:ext cx="21764700" cy="952500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4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4167188" y="2857500"/>
            <a:ext cx="15716100" cy="96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/>
        </p:nvSpPr>
        <p:spPr>
          <a:xfrm>
            <a:off x="21955125" y="12477750"/>
            <a:ext cx="952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1" sz="2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